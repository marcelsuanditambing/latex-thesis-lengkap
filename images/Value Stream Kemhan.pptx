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F3E3D-88F8-417A-9183-93127E22FE04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A7A73-CF39-40BF-B663-B7987A94BF6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91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A7A73-CF39-40BF-B663-B7987A94BF68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198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74D4-E9C8-3329-97B1-3DA34326C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08C30-88DD-E993-AFFE-41220D3F5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46F3-0207-C535-2863-F1B3770B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C731C-6504-D289-6C51-FC859F56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94EDB-FFC1-CF58-D20E-790AD28D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566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8274-8B91-F8F9-0566-8EB3E0F7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0161-2611-F3DD-B2B4-05BE5B9B9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EAC3B-0E19-6E3B-1077-12C8A2A2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803A3-63C4-44B6-D6D7-D3BF88BE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EB6BB-3881-0DD8-41F9-BACCA8B0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263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29D7-B671-D170-E467-9036E82D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C7548-F759-AD16-EB71-876E02C8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1B8E-4BAB-5C71-0C9D-BE822FE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B2B28-5A1D-A5EC-124A-652AA6BC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E9EA0-3253-1131-5E74-C97E5C97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227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FD34-F08A-51EA-7D63-5CD871CC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EE88-B3EA-5E23-9F76-7CDAC98AF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B0C68-E6E0-8B59-20DD-E7E46D35B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E8250-2392-1ACE-6829-BAF7E581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3FCB8-333F-41D9-34F5-77DB8626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092FE-D74B-A409-EBD6-3C5286D9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780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F7DB-4CCE-07D8-8CFD-51C5E940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C5752-9CB0-3FD5-1804-C30D12653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66A97-D697-7181-7C95-E9E0FEAE3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F01AB-09D1-FC0B-956E-95F6F6DE0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BA0D6-931F-F6BC-F473-48FC3F57D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9D7CD-8656-02F2-4192-4B80FE16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81FCB4-325A-9139-47F5-6A63DD04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FE9FDB-6042-3C05-8D31-19C2E6D1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26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BF28-9E27-538C-42C2-B3B93F14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F22F8-9452-7708-F278-9670EFC7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B2732-D9F6-A22C-1287-45BCE037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33394-4A4D-9CDF-38B5-94EBA06C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391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BA33B-2CD6-F7A8-2948-7BC05886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B41A1-A430-E96A-55DF-F6C4A2F9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785C-9250-6479-E172-75D44E49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880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C3CB-1297-A293-CFE4-F469FF53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F2340-C3E9-EC2F-4774-CBB8B2DD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EF5DB-B881-D127-AE2D-CAF418C14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C82E8-A229-1F91-08CF-AD0F99ED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434BB-A98E-0B3D-E5CF-495BE52C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D36A9-5B98-C951-8FEC-E62944D0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365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DA1E-89F9-0D7C-C468-D1EA6F71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9565E-A698-C049-7C61-90CD0BAEA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A8692-2F4B-040B-6F88-099250DDE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B8397-0A61-7BDE-12C1-D4EBA943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3211B-C3B9-EBFF-E341-91E45786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D406A-DC4D-4F29-F7DC-32817DC9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056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4B1A-3BDD-624E-15C3-9A950E1C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4C093-516C-52A9-A05D-01AEB348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2A4C8-7C12-1D82-595E-23B47AE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A2E3-E564-451F-4523-1A9BCCB3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AF06-F12A-A33B-48F4-F4B1F410C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44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1D793-7854-B436-3046-50638FBE3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A9065-C88D-B43B-BDD0-004756378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6BC7-AA05-49B3-C66A-3162679F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59B46-E830-A8C5-EF7B-1941A1D2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29517-4614-757C-5723-2E150BBF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310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08D09-6649-C9CE-CA88-3FB8BD74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787B5-96D9-2AC2-F346-F1072613B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F23FF-D556-DB1F-7F32-CD7CDB946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D1E91-64B7-40AB-A5D7-1239955507F5}" type="datetimeFigureOut">
              <a:rPr lang="en-ID" smtClean="0"/>
              <a:t>06/08/2026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FD563-6D03-A981-DC69-46849F6CC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E3637-1B2E-A736-72FB-37F512840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4BDE1-FB4C-41C2-8874-827F198106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963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C2F883-D1BA-B5FB-E172-3DA0E7A6C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13" y="2283369"/>
            <a:ext cx="10277340" cy="17996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ED3FD63-A1EA-5F0D-8768-FAA372760B6B}"/>
              </a:ext>
            </a:extLst>
          </p:cNvPr>
          <p:cNvGrpSpPr/>
          <p:nvPr/>
        </p:nvGrpSpPr>
        <p:grpSpPr>
          <a:xfrm>
            <a:off x="730703" y="968649"/>
            <a:ext cx="3529781" cy="1238518"/>
            <a:chOff x="1337187" y="462116"/>
            <a:chExt cx="3529781" cy="13849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E37B0A-77B0-4567-AE47-82C43AADB990}"/>
                </a:ext>
              </a:extLst>
            </p:cNvPr>
            <p:cNvSpPr/>
            <p:nvPr/>
          </p:nvSpPr>
          <p:spPr>
            <a:xfrm>
              <a:off x="1337187" y="462116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ECC99D-2296-9779-68A2-A43601940DFA}"/>
                </a:ext>
              </a:extLst>
            </p:cNvPr>
            <p:cNvSpPr txBox="1"/>
            <p:nvPr/>
          </p:nvSpPr>
          <p:spPr>
            <a:xfrm>
              <a:off x="1337187" y="462117"/>
              <a:ext cx="35297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sv-SE" sz="1200" dirty="0"/>
                <a:t>Fokus pada penentuan arah strategis organisasi melalui penyusunan OKR yang selaras dengan visi dan target perusahaan.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bahwa</a:t>
              </a:r>
              <a:r>
                <a:rPr lang="en-ID" sz="1200" dirty="0"/>
                <a:t> </a:t>
              </a:r>
              <a:r>
                <a:rPr lang="en-ID" sz="1200" dirty="0" err="1"/>
                <a:t>setiap</a:t>
              </a:r>
              <a:r>
                <a:rPr lang="en-ID" sz="1200" dirty="0"/>
                <a:t> </a:t>
              </a:r>
              <a:r>
                <a:rPr lang="en-ID" sz="1200" dirty="0" err="1"/>
                <a:t>karyawan</a:t>
              </a:r>
              <a:r>
                <a:rPr lang="en-ID" sz="1200" dirty="0"/>
                <a:t> </a:t>
              </a:r>
              <a:r>
                <a:rPr lang="en-ID" sz="1200" dirty="0" err="1"/>
                <a:t>memahami</a:t>
              </a:r>
              <a:r>
                <a:rPr lang="en-ID" sz="1200" dirty="0"/>
                <a:t> </a:t>
              </a:r>
              <a:r>
                <a:rPr lang="en-ID" sz="1200" dirty="0" err="1"/>
                <a:t>kontribusinya</a:t>
              </a:r>
              <a:r>
                <a:rPr lang="en-ID" sz="1200" dirty="0"/>
                <a:t> </a:t>
              </a:r>
              <a:r>
                <a:rPr lang="en-ID" sz="1200" dirty="0" err="1"/>
                <a:t>terhadap</a:t>
              </a:r>
              <a:r>
                <a:rPr lang="en-ID" sz="1200" dirty="0"/>
                <a:t> </a:t>
              </a:r>
              <a:r>
                <a:rPr lang="en-ID" sz="1200" dirty="0" err="1"/>
                <a:t>pencapaian</a:t>
              </a:r>
              <a:r>
                <a:rPr lang="en-ID" sz="1200" dirty="0"/>
                <a:t> target </a:t>
              </a:r>
              <a:r>
                <a:rPr lang="en-ID" sz="1200" dirty="0" err="1"/>
                <a:t>bisnis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A07B1F-6090-DEE0-BC7B-48486BC73A79}"/>
              </a:ext>
            </a:extLst>
          </p:cNvPr>
          <p:cNvGrpSpPr/>
          <p:nvPr/>
        </p:nvGrpSpPr>
        <p:grpSpPr>
          <a:xfrm>
            <a:off x="4373554" y="1037304"/>
            <a:ext cx="3529781" cy="1073382"/>
            <a:chOff x="1297858" y="4758565"/>
            <a:chExt cx="3529781" cy="138499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44E8EE-617A-8881-7CD6-DA98831788BC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15E62B-A15E-FA54-7FF3-8CF4D005E517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135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Melakukan</a:t>
              </a:r>
              <a:r>
                <a:rPr lang="en-ID" sz="1200" dirty="0"/>
                <a:t> </a:t>
              </a:r>
              <a:r>
                <a:rPr lang="en-ID" sz="1200" dirty="0" err="1"/>
                <a:t>pemantauan</a:t>
              </a:r>
              <a:r>
                <a:rPr lang="en-ID" sz="1200" dirty="0"/>
                <a:t> </a:t>
              </a:r>
              <a:r>
                <a:rPr lang="en-ID" sz="1200" dirty="0" err="1"/>
                <a:t>perkembangan</a:t>
              </a:r>
              <a:r>
                <a:rPr lang="en-ID" sz="1200" dirty="0"/>
                <a:t> </a:t>
              </a:r>
              <a:r>
                <a:rPr lang="en-ID" sz="1200" dirty="0" err="1"/>
                <a:t>pencapaian</a:t>
              </a:r>
              <a:r>
                <a:rPr lang="en-ID" sz="1200" dirty="0"/>
                <a:t> OKR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berkala</a:t>
              </a:r>
              <a:r>
                <a:rPr lang="en-ID" sz="1200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/>
                <a:t>Memungkinkan </a:t>
              </a:r>
              <a:r>
                <a:rPr lang="en-ID" sz="1200" dirty="0" err="1"/>
                <a:t>organisasi</a:t>
              </a:r>
              <a:r>
                <a:rPr lang="en-ID" sz="1200" dirty="0"/>
                <a:t> </a:t>
              </a:r>
              <a:r>
                <a:rPr lang="en-ID" sz="1200" dirty="0" err="1"/>
                <a:t>melakukan</a:t>
              </a:r>
              <a:r>
                <a:rPr lang="en-ID" sz="1200" dirty="0"/>
                <a:t> </a:t>
              </a:r>
              <a:r>
                <a:rPr lang="en-ID" sz="1200" dirty="0" err="1"/>
                <a:t>penyesuaian</a:t>
              </a:r>
              <a:r>
                <a:rPr lang="en-ID" sz="1200" dirty="0"/>
                <a:t> </a:t>
              </a:r>
              <a:r>
                <a:rPr lang="en-ID" sz="1200" dirty="0" err="1"/>
                <a:t>secara</a:t>
              </a:r>
              <a:r>
                <a:rPr lang="en-ID" sz="1200" dirty="0"/>
                <a:t> agile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menjaga</a:t>
              </a:r>
              <a:r>
                <a:rPr lang="en-ID" sz="1200" dirty="0"/>
                <a:t> </a:t>
              </a:r>
              <a:r>
                <a:rPr lang="en-ID" sz="1200" dirty="0" err="1"/>
                <a:t>pencapaian</a:t>
              </a:r>
              <a:r>
                <a:rPr lang="en-ID" sz="1200" dirty="0"/>
                <a:t> target </a:t>
              </a:r>
              <a:r>
                <a:rPr lang="en-ID" sz="1200" dirty="0" err="1"/>
                <a:t>tetap</a:t>
              </a:r>
              <a:r>
                <a:rPr lang="en-ID" sz="1200" dirty="0"/>
                <a:t> on-track.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A1D99A-3D37-D395-EE5C-19266F3446D0}"/>
              </a:ext>
            </a:extLst>
          </p:cNvPr>
          <p:cNvGrpSpPr/>
          <p:nvPr/>
        </p:nvGrpSpPr>
        <p:grpSpPr>
          <a:xfrm>
            <a:off x="2254702" y="4122521"/>
            <a:ext cx="3529781" cy="1238519"/>
            <a:chOff x="1297858" y="4758565"/>
            <a:chExt cx="3529781" cy="138499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CF310A-9E2A-AD4D-8205-C7B3985DE878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888792-B62D-0F6D-A783-F4384A776A4E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34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Perumusan</a:t>
              </a:r>
              <a:r>
                <a:rPr lang="en-ID" sz="1200" dirty="0"/>
                <a:t> Key Result (KR) </a:t>
              </a:r>
              <a:r>
                <a:rPr lang="en-ID" sz="1200" dirty="0" err="1"/>
                <a:t>sebagai</a:t>
              </a:r>
              <a:r>
                <a:rPr lang="en-ID" sz="1200" dirty="0"/>
                <a:t> </a:t>
              </a:r>
              <a:r>
                <a:rPr lang="en-ID" sz="1200" dirty="0" err="1"/>
                <a:t>indikator</a:t>
              </a:r>
              <a:r>
                <a:rPr lang="en-ID" sz="1200" dirty="0"/>
                <a:t> </a:t>
              </a:r>
              <a:r>
                <a:rPr lang="en-ID" sz="1200" dirty="0" err="1"/>
                <a:t>keberhasilan</a:t>
              </a:r>
              <a:r>
                <a:rPr lang="en-ID" sz="1200" dirty="0"/>
                <a:t> yang </a:t>
              </a:r>
              <a:r>
                <a:rPr lang="en-ID" sz="1200" dirty="0" err="1"/>
                <a:t>bersifat</a:t>
              </a:r>
              <a:r>
                <a:rPr lang="en-ID" sz="1200" dirty="0"/>
                <a:t> </a:t>
              </a:r>
              <a:r>
                <a:rPr lang="en-ID" sz="1200" dirty="0" err="1"/>
                <a:t>kuantitatif</a:t>
              </a:r>
              <a:r>
                <a:rPr lang="en-ID" sz="1200" dirty="0"/>
                <a:t> dan </a:t>
              </a:r>
              <a:r>
                <a:rPr lang="en-ID" sz="1200" dirty="0" err="1"/>
                <a:t>terukur</a:t>
              </a:r>
              <a:r>
                <a:rPr lang="en-ID" sz="1200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Perencanaan</a:t>
              </a:r>
              <a:r>
                <a:rPr lang="en-ID" sz="1200" dirty="0"/>
                <a:t> </a:t>
              </a:r>
              <a:r>
                <a:rPr lang="en-ID" sz="1200" dirty="0" err="1"/>
                <a:t>kinerja</a:t>
              </a:r>
              <a:r>
                <a:rPr lang="en-ID" sz="1200" dirty="0"/>
                <a:t> </a:t>
              </a: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bahwa</a:t>
              </a:r>
              <a:r>
                <a:rPr lang="en-ID" sz="1200" dirty="0"/>
                <a:t> </a:t>
              </a:r>
              <a:r>
                <a:rPr lang="en-ID" sz="1200" dirty="0" err="1"/>
                <a:t>seluruh</a:t>
              </a:r>
              <a:r>
                <a:rPr lang="en-ID" sz="1200" dirty="0"/>
                <a:t> </a:t>
              </a:r>
              <a:r>
                <a:rPr lang="en-ID" sz="1200" dirty="0" err="1"/>
                <a:t>aktivitas</a:t>
              </a:r>
              <a:r>
                <a:rPr lang="en-ID" sz="1200" dirty="0"/>
                <a:t> </a:t>
              </a:r>
              <a:r>
                <a:rPr lang="en-ID" sz="1200" dirty="0" err="1"/>
                <a:t>kerja</a:t>
              </a:r>
              <a:r>
                <a:rPr lang="en-ID" sz="1200" dirty="0"/>
                <a:t> </a:t>
              </a:r>
              <a:r>
                <a:rPr lang="en-ID" sz="1200" dirty="0" err="1"/>
                <a:t>memiliki</a:t>
              </a:r>
              <a:r>
                <a:rPr lang="en-ID" sz="1200" dirty="0"/>
                <a:t> </a:t>
              </a:r>
              <a:r>
                <a:rPr lang="en-ID" sz="1200" dirty="0" err="1"/>
                <a:t>ukuran</a:t>
              </a:r>
              <a:r>
                <a:rPr lang="en-ID" sz="1200" dirty="0"/>
                <a:t> </a:t>
              </a:r>
              <a:r>
                <a:rPr lang="en-ID" sz="1200" dirty="0" err="1"/>
                <a:t>keberhasilan</a:t>
              </a:r>
              <a:r>
                <a:rPr lang="en-ID" sz="1200" dirty="0"/>
                <a:t> yang </a:t>
              </a:r>
              <a:r>
                <a:rPr lang="en-ID" sz="1200" dirty="0" err="1"/>
                <a:t>jelas</a:t>
              </a:r>
              <a:r>
                <a:rPr lang="en-ID" sz="1200" dirty="0"/>
                <a:t> dan </a:t>
              </a:r>
              <a:r>
                <a:rPr lang="en-ID" sz="1200" dirty="0" err="1"/>
                <a:t>terstandarisasi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886833-F42D-03CE-544D-037FFF8786F3}"/>
              </a:ext>
            </a:extLst>
          </p:cNvPr>
          <p:cNvGrpSpPr/>
          <p:nvPr/>
        </p:nvGrpSpPr>
        <p:grpSpPr>
          <a:xfrm>
            <a:off x="6443244" y="4122521"/>
            <a:ext cx="3529781" cy="1093661"/>
            <a:chOff x="1297858" y="4758565"/>
            <a:chExt cx="3529781" cy="138499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277D3A-BB05-544A-2075-544A4BBE3290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20A384-59EC-8CD0-0814-9527FED52880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135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Penilaian</a:t>
              </a:r>
              <a:r>
                <a:rPr lang="en-ID" sz="1200" dirty="0"/>
                <a:t> </a:t>
              </a:r>
              <a:r>
                <a:rPr lang="en-ID" sz="1200" dirty="0" err="1"/>
                <a:t>terhadap</a:t>
              </a:r>
              <a:r>
                <a:rPr lang="en-ID" sz="1200" dirty="0"/>
                <a:t> </a:t>
              </a:r>
              <a:r>
                <a:rPr lang="en-ID" sz="1200" dirty="0" err="1"/>
                <a:t>hasil</a:t>
              </a:r>
              <a:r>
                <a:rPr lang="en-ID" sz="1200" dirty="0"/>
                <a:t> </a:t>
              </a:r>
              <a:r>
                <a:rPr lang="en-ID" sz="1200" dirty="0" err="1"/>
                <a:t>pencapaian</a:t>
              </a:r>
              <a:r>
                <a:rPr lang="en-ID" sz="1200" dirty="0"/>
                <a:t> OKR </a:t>
              </a:r>
              <a:r>
                <a:rPr lang="en-ID" sz="1200" dirty="0" err="1"/>
                <a:t>berdasarkan</a:t>
              </a:r>
              <a:r>
                <a:rPr lang="en-ID" sz="1200" dirty="0"/>
                <a:t> data dan evidence yang </a:t>
              </a:r>
              <a:r>
                <a:rPr lang="en-ID" sz="1200" dirty="0" err="1"/>
                <a:t>tersedia</a:t>
              </a:r>
              <a:r>
                <a:rPr lang="en-ID" sz="1200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Evaluasi</a:t>
              </a:r>
              <a:r>
                <a:rPr lang="en-ID" sz="1200" dirty="0"/>
                <a:t> </a:t>
              </a:r>
              <a:r>
                <a:rPr lang="en-ID" sz="1200" dirty="0" err="1"/>
                <a:t>dilakukan</a:t>
              </a:r>
              <a:r>
                <a:rPr lang="en-ID" sz="1200" dirty="0"/>
                <a:t>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objektif</a:t>
              </a:r>
              <a:r>
                <a:rPr lang="en-ID" sz="1200" dirty="0"/>
                <a:t>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akuntabilitas</a:t>
              </a:r>
              <a:r>
                <a:rPr lang="en-ID" sz="1200" dirty="0"/>
                <a:t> dan </a:t>
              </a:r>
              <a:r>
                <a:rPr lang="en-ID" sz="1200" dirty="0" err="1"/>
                <a:t>transparansi</a:t>
              </a:r>
              <a:r>
                <a:rPr lang="en-ID" sz="1200" dirty="0"/>
                <a:t> </a:t>
              </a:r>
              <a:r>
                <a:rPr lang="en-ID" sz="1200" dirty="0" err="1"/>
                <a:t>dalam</a:t>
              </a:r>
              <a:r>
                <a:rPr lang="en-ID" sz="1200" dirty="0"/>
                <a:t> </a:t>
              </a:r>
              <a:r>
                <a:rPr lang="en-ID" sz="1200" dirty="0" err="1"/>
                <a:t>penilaian</a:t>
              </a:r>
              <a:r>
                <a:rPr lang="en-ID" sz="1200" dirty="0"/>
                <a:t> </a:t>
              </a:r>
              <a:r>
                <a:rPr lang="en-ID" sz="1200" dirty="0" err="1"/>
                <a:t>kinerja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E94CBB-90D7-D2FD-F9E5-4574C9561339}"/>
              </a:ext>
            </a:extLst>
          </p:cNvPr>
          <p:cNvGrpSpPr/>
          <p:nvPr/>
        </p:nvGrpSpPr>
        <p:grpSpPr>
          <a:xfrm>
            <a:off x="8016405" y="857245"/>
            <a:ext cx="3529781" cy="1674386"/>
            <a:chOff x="1297858" y="4758565"/>
            <a:chExt cx="3529781" cy="157515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FC61E26-68FC-843C-BB05-5F0DF8410E8A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CE574D-AF14-16B6-47FD-C20012E29478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548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Fokus</a:t>
              </a:r>
              <a:r>
                <a:rPr lang="en-ID" sz="1200" dirty="0"/>
                <a:t> pada </a:t>
              </a:r>
              <a:r>
                <a:rPr lang="en-ID" sz="1200" dirty="0" err="1"/>
                <a:t>penggunaan</a:t>
              </a:r>
              <a:r>
                <a:rPr lang="en-ID" sz="1200" dirty="0"/>
                <a:t> data </a:t>
              </a:r>
              <a:r>
                <a:rPr lang="en-ID" sz="1200" dirty="0" err="1"/>
                <a:t>performansi</a:t>
              </a:r>
              <a:r>
                <a:rPr lang="en-ID" sz="1200" dirty="0"/>
                <a:t>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mendukung</a:t>
              </a:r>
              <a:r>
                <a:rPr lang="en-ID" sz="1200" dirty="0"/>
                <a:t> </a:t>
              </a:r>
              <a:r>
                <a:rPr lang="en-ID" sz="1200" dirty="0" err="1"/>
                <a:t>pengambilan</a:t>
              </a:r>
              <a:r>
                <a:rPr lang="en-ID" sz="1200" dirty="0"/>
                <a:t> </a:t>
              </a:r>
              <a:r>
                <a:rPr lang="en-ID" sz="1200" dirty="0" err="1"/>
                <a:t>keputusan</a:t>
              </a:r>
              <a:r>
                <a:rPr lang="en-ID" sz="1200" dirty="0"/>
                <a:t> </a:t>
              </a:r>
              <a:r>
                <a:rPr lang="en-ID" sz="1200" dirty="0" err="1"/>
                <a:t>strategis</a:t>
              </a:r>
              <a:r>
                <a:rPr lang="en-ID" sz="1200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bahwa</a:t>
              </a:r>
              <a:r>
                <a:rPr lang="en-ID" sz="1200" dirty="0"/>
                <a:t> data OKR </a:t>
              </a:r>
              <a:r>
                <a:rPr lang="en-ID" sz="1200" dirty="0" err="1"/>
                <a:t>tidak</a:t>
              </a:r>
              <a:r>
                <a:rPr lang="en-ID" sz="1200" dirty="0"/>
                <a:t> </a:t>
              </a:r>
              <a:r>
                <a:rPr lang="en-ID" sz="1200" dirty="0" err="1"/>
                <a:t>hanya</a:t>
              </a:r>
              <a:r>
                <a:rPr lang="en-ID" sz="1200" dirty="0"/>
                <a:t> </a:t>
              </a:r>
              <a:r>
                <a:rPr lang="en-ID" sz="1200" dirty="0" err="1"/>
                <a:t>digunakan</a:t>
              </a:r>
              <a:r>
                <a:rPr lang="en-ID" sz="1200" dirty="0"/>
                <a:t>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evaluasi</a:t>
              </a:r>
              <a:r>
                <a:rPr lang="en-ID" sz="1200" dirty="0"/>
                <a:t>, </a:t>
              </a:r>
              <a:r>
                <a:rPr lang="en-ID" sz="1200" dirty="0" err="1"/>
                <a:t>tetapi</a:t>
              </a:r>
              <a:r>
                <a:rPr lang="en-ID" sz="1200" dirty="0"/>
                <a:t> juga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pengembangan</a:t>
              </a:r>
              <a:r>
                <a:rPr lang="en-ID" sz="1200" dirty="0"/>
                <a:t> </a:t>
              </a:r>
              <a:r>
                <a:rPr lang="en-ID" sz="1200" dirty="0" err="1"/>
                <a:t>organisasi</a:t>
              </a:r>
              <a:r>
                <a:rPr lang="en-ID" sz="1200" dirty="0"/>
                <a:t>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berkelanjutan</a:t>
              </a:r>
              <a:r>
                <a:rPr lang="en-ID" sz="1200" dirty="0"/>
                <a:t>.</a:t>
              </a:r>
            </a:p>
          </p:txBody>
        </p:sp>
      </p:grp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94336E6-8EFA-264A-857A-B8406A5B4047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2425136" y="2277624"/>
            <a:ext cx="374047" cy="23313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BA5C408-233D-D5A4-98CC-695E6E676C1E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4019592" y="3935034"/>
            <a:ext cx="1" cy="1874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72AEE-01B8-8715-3018-4F80E3F658DA}"/>
              </a:ext>
            </a:extLst>
          </p:cNvPr>
          <p:cNvCxnSpPr/>
          <p:nvPr/>
        </p:nvCxnSpPr>
        <p:spPr>
          <a:xfrm>
            <a:off x="4514483" y="3782634"/>
            <a:ext cx="0" cy="147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34484F-DD42-0D42-85CA-8BBA5572DD97}"/>
              </a:ext>
            </a:extLst>
          </p:cNvPr>
          <p:cNvCxnSpPr>
            <a:cxnSpLocks/>
          </p:cNvCxnSpPr>
          <p:nvPr/>
        </p:nvCxnSpPr>
        <p:spPr>
          <a:xfrm>
            <a:off x="4009432" y="3935034"/>
            <a:ext cx="5152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156C6DA-F24B-71A7-B6A3-D85A2D159492}"/>
              </a:ext>
            </a:extLst>
          </p:cNvPr>
          <p:cNvCxnSpPr>
            <a:stCxn id="10" idx="2"/>
          </p:cNvCxnSpPr>
          <p:nvPr/>
        </p:nvCxnSpPr>
        <p:spPr>
          <a:xfrm rot="16200000" flipH="1">
            <a:off x="5993338" y="2255793"/>
            <a:ext cx="478797" cy="18858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2BB19B5-6C85-56E3-B55F-B11160E87BAA}"/>
              </a:ext>
            </a:extLst>
          </p:cNvPr>
          <p:cNvCxnSpPr>
            <a:stCxn id="20" idx="0"/>
          </p:cNvCxnSpPr>
          <p:nvPr/>
        </p:nvCxnSpPr>
        <p:spPr>
          <a:xfrm rot="16200000" flipV="1">
            <a:off x="7997057" y="3932261"/>
            <a:ext cx="360705" cy="614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20325DD-A3A3-2DAF-570A-0A59F5B31E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2861" y="2377922"/>
            <a:ext cx="251724" cy="15485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52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D13DA8D-7589-9B6D-AAD6-3D2EEE96B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" y="2351913"/>
            <a:ext cx="11591925" cy="173355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DBE3463-820C-4DBC-B8D8-FE3B5D660408}"/>
              </a:ext>
            </a:extLst>
          </p:cNvPr>
          <p:cNvGrpSpPr/>
          <p:nvPr/>
        </p:nvGrpSpPr>
        <p:grpSpPr>
          <a:xfrm>
            <a:off x="730703" y="481631"/>
            <a:ext cx="3793940" cy="1622793"/>
            <a:chOff x="1337187" y="462116"/>
            <a:chExt cx="3529781" cy="13849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C84D14-28ED-FF13-5D1A-07800768084C}"/>
                </a:ext>
              </a:extLst>
            </p:cNvPr>
            <p:cNvSpPr/>
            <p:nvPr/>
          </p:nvSpPr>
          <p:spPr>
            <a:xfrm>
              <a:off x="1337187" y="462116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8648A9-10E2-C4B1-881E-4AB29E484FD7}"/>
                </a:ext>
              </a:extLst>
            </p:cNvPr>
            <p:cNvSpPr txBox="1"/>
            <p:nvPr/>
          </p:nvSpPr>
          <p:spPr>
            <a:xfrm>
              <a:off x="1337187" y="462117"/>
              <a:ext cx="3529781" cy="1339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b="1" dirty="0" err="1"/>
                <a:t>Fokus</a:t>
              </a:r>
              <a:r>
                <a:rPr lang="en-ID" sz="1200" b="1" dirty="0"/>
                <a:t>:</a:t>
              </a:r>
              <a:r>
                <a:rPr lang="en-ID" sz="1200" dirty="0"/>
                <a:t> </a:t>
              </a:r>
              <a:r>
                <a:rPr lang="en-ID" sz="1200" dirty="0" err="1"/>
                <a:t>Menentukan</a:t>
              </a:r>
              <a:r>
                <a:rPr lang="en-ID" sz="1200" dirty="0"/>
                <a:t> </a:t>
              </a:r>
              <a:r>
                <a:rPr lang="en-ID" sz="1200" dirty="0" err="1"/>
                <a:t>arah</a:t>
              </a:r>
              <a:r>
                <a:rPr lang="en-ID" sz="1200" dirty="0"/>
                <a:t> </a:t>
              </a:r>
              <a:r>
                <a:rPr lang="en-ID" sz="1200" dirty="0" err="1"/>
                <a:t>strategis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 </a:t>
              </a:r>
              <a:r>
                <a:rPr lang="en-ID" sz="1200" dirty="0" err="1"/>
                <a:t>nasional</a:t>
              </a:r>
              <a:r>
                <a:rPr lang="en-ID" sz="1200" dirty="0"/>
                <a:t> yang </a:t>
              </a:r>
              <a:r>
                <a:rPr lang="en-ID" sz="1200" dirty="0" err="1"/>
                <a:t>selaras</a:t>
              </a:r>
              <a:r>
                <a:rPr lang="en-ID" sz="1200" dirty="0"/>
                <a:t> </a:t>
              </a:r>
              <a:r>
                <a:rPr lang="en-ID" sz="1200" dirty="0" err="1"/>
                <a:t>dengan</a:t>
              </a:r>
              <a:r>
                <a:rPr lang="en-ID" sz="1200" dirty="0"/>
                <a:t> </a:t>
              </a:r>
              <a:r>
                <a:rPr lang="en-ID" sz="1200" dirty="0" err="1"/>
                <a:t>kepentingan</a:t>
              </a:r>
              <a:r>
                <a:rPr lang="en-ID" sz="1200" dirty="0"/>
                <a:t> negara dan </a:t>
              </a:r>
              <a:r>
                <a:rPr lang="en-ID" sz="1200" dirty="0" err="1"/>
                <a:t>dinamika</a:t>
              </a:r>
              <a:r>
                <a:rPr lang="en-ID" sz="1200" dirty="0"/>
                <a:t> global.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/>
                <a:t>Menyusun </a:t>
              </a:r>
              <a:r>
                <a:rPr lang="en-ID" sz="1200" dirty="0" err="1"/>
                <a:t>kebijakan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Perencanaan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 </a:t>
              </a:r>
              <a:r>
                <a:rPr lang="en-ID" sz="1200" dirty="0" err="1"/>
                <a:t>jangka</a:t>
              </a:r>
              <a:r>
                <a:rPr lang="en-ID" sz="1200" dirty="0"/>
                <a:t> </a:t>
              </a:r>
              <a:r>
                <a:rPr lang="en-ID" sz="1200" dirty="0" err="1"/>
                <a:t>pendek</a:t>
              </a:r>
              <a:r>
                <a:rPr lang="en-ID" sz="1200" dirty="0"/>
                <a:t>, </a:t>
              </a:r>
              <a:r>
                <a:rPr lang="en-ID" sz="1200" dirty="0" err="1"/>
                <a:t>menengah</a:t>
              </a:r>
              <a:r>
                <a:rPr lang="en-ID" sz="1200" dirty="0"/>
                <a:t> dan Panjang.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Menyelaraskan</a:t>
              </a:r>
              <a:r>
                <a:rPr lang="en-ID" sz="1200" dirty="0"/>
                <a:t> strategi </a:t>
              </a:r>
              <a:r>
                <a:rPr lang="en-ID" sz="1200" dirty="0" err="1"/>
                <a:t>pertahanan</a:t>
              </a:r>
              <a:r>
                <a:rPr lang="en-ID" sz="1200" dirty="0"/>
                <a:t> </a:t>
              </a:r>
              <a:r>
                <a:rPr lang="en-ID" sz="1200" dirty="0" err="1"/>
                <a:t>dengan</a:t>
              </a:r>
              <a:r>
                <a:rPr lang="en-ID" sz="1200" dirty="0"/>
                <a:t> </a:t>
              </a:r>
              <a:r>
                <a:rPr lang="en-ID" sz="1200" dirty="0" err="1"/>
                <a:t>visi</a:t>
              </a:r>
              <a:r>
                <a:rPr lang="en-ID" sz="1200" dirty="0"/>
                <a:t> </a:t>
              </a:r>
              <a:r>
                <a:rPr lang="en-ID" sz="1200" dirty="0" err="1"/>
                <a:t>pemerintah</a:t>
              </a:r>
              <a:r>
                <a:rPr lang="en-ID" sz="1200" dirty="0"/>
                <a:t> dan </a:t>
              </a:r>
              <a:r>
                <a:rPr lang="en-ID" sz="1200" dirty="0" err="1"/>
                <a:t>kebutuhan</a:t>
              </a:r>
              <a:r>
                <a:rPr lang="en-ID" sz="1200" dirty="0"/>
                <a:t> TNI.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EA38A42-AE5B-E856-8990-5B9D554919EF}"/>
              </a:ext>
            </a:extLst>
          </p:cNvPr>
          <p:cNvGrpSpPr/>
          <p:nvPr/>
        </p:nvGrpSpPr>
        <p:grpSpPr>
          <a:xfrm>
            <a:off x="1990256" y="4231068"/>
            <a:ext cx="4195259" cy="1638790"/>
            <a:chOff x="1297858" y="4758565"/>
            <a:chExt cx="3529781" cy="1384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D21388-DA44-EB68-FF7F-AEA3596CECCF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1C5ABB-6FC0-E4C2-ABF4-0007429E1F5A}"/>
                </a:ext>
              </a:extLst>
            </p:cNvPr>
            <p:cNvSpPr txBox="1"/>
            <p:nvPr/>
          </p:nvSpPr>
          <p:spPr>
            <a:xfrm>
              <a:off x="1297859" y="4784929"/>
              <a:ext cx="3529780" cy="132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1200" b="1" dirty="0"/>
                <a:t>Fokus:</a:t>
              </a:r>
              <a:r>
                <a:rPr lang="sv-SE" sz="1200" dirty="0"/>
                <a:t> Membangun dan meningkatkan kemampuan pertahanan melalui SDM, alutsista, dan infrastruktur strategi.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i-FI" sz="1200" dirty="0"/>
                <a:t>Mengembangkan kekuatan pertahanan melalui pengadaan dan pengelolaan sarana pertahanan.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Meningkatkan</a:t>
              </a:r>
              <a:r>
                <a:rPr lang="en-ID" sz="1200" dirty="0"/>
                <a:t> </a:t>
              </a:r>
              <a:r>
                <a:rPr lang="en-ID" sz="1200" dirty="0" err="1"/>
                <a:t>kompetensi</a:t>
              </a:r>
              <a:r>
                <a:rPr lang="en-ID" sz="1200" dirty="0"/>
                <a:t> SDM </a:t>
              </a:r>
              <a:r>
                <a:rPr lang="en-ID" sz="1200" dirty="0" err="1"/>
                <a:t>melalui</a:t>
              </a:r>
              <a:r>
                <a:rPr lang="en-ID" sz="1200" dirty="0"/>
                <a:t> </a:t>
              </a:r>
              <a:r>
                <a:rPr lang="en-ID" sz="1200" dirty="0" err="1"/>
                <a:t>pendidikan</a:t>
              </a:r>
              <a:r>
                <a:rPr lang="en-ID" sz="1200" dirty="0"/>
                <a:t> dan </a:t>
              </a:r>
              <a:r>
                <a:rPr lang="en-ID" sz="1200" dirty="0" err="1"/>
                <a:t>pelatihan</a:t>
              </a:r>
              <a:r>
                <a:rPr lang="en-ID" sz="1200" dirty="0"/>
                <a:t> </a:t>
              </a:r>
              <a:r>
                <a:rPr lang="en-ID" sz="1200" dirty="0" err="1"/>
                <a:t>berkelanjutan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Mengelola</a:t>
              </a:r>
              <a:r>
                <a:rPr lang="en-ID" sz="1200" dirty="0"/>
                <a:t> </a:t>
              </a:r>
              <a:r>
                <a:rPr lang="en-ID" sz="1200" dirty="0" err="1"/>
                <a:t>instalasi</a:t>
              </a:r>
              <a:r>
                <a:rPr lang="en-ID" sz="1200" dirty="0"/>
                <a:t> </a:t>
              </a:r>
              <a:r>
                <a:rPr lang="en-ID" sz="1200" dirty="0" err="1"/>
                <a:t>strategis</a:t>
              </a:r>
              <a:r>
                <a:rPr lang="en-ID" sz="1200" dirty="0"/>
                <a:t>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mendukung</a:t>
              </a:r>
              <a:r>
                <a:rPr lang="en-ID" sz="1200" dirty="0"/>
                <a:t> </a:t>
              </a:r>
              <a:r>
                <a:rPr lang="en-ID" sz="1200" dirty="0" err="1"/>
                <a:t>kesiapan</a:t>
              </a:r>
              <a:r>
                <a:rPr lang="en-ID" sz="1200" dirty="0"/>
                <a:t> </a:t>
              </a:r>
              <a:r>
                <a:rPr lang="en-ID" sz="1200" dirty="0" err="1"/>
                <a:t>operasional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3CA4E-8541-C61F-9AA9-30663F324ABE}"/>
              </a:ext>
            </a:extLst>
          </p:cNvPr>
          <p:cNvGrpSpPr/>
          <p:nvPr/>
        </p:nvGrpSpPr>
        <p:grpSpPr>
          <a:xfrm>
            <a:off x="7031375" y="4226699"/>
            <a:ext cx="4195258" cy="2351081"/>
            <a:chOff x="1297858" y="4758565"/>
            <a:chExt cx="3529781" cy="166507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596B7A-31CB-D579-6DBB-7EFC756932C2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40BA0B-9EA8-68F5-2358-AF2C216E45E7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638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b="1" dirty="0" err="1"/>
                <a:t>Fokus</a:t>
              </a:r>
              <a:r>
                <a:rPr lang="en-ID" sz="1200" b="1" dirty="0"/>
                <a:t>:</a:t>
              </a:r>
              <a:r>
                <a:rPr lang="en-ID" sz="1200" dirty="0"/>
                <a:t> </a:t>
              </a:r>
              <a:r>
                <a:rPr lang="en-ID" sz="1200" dirty="0" err="1"/>
                <a:t>Menjamin</a:t>
              </a:r>
              <a:r>
                <a:rPr lang="en-ID" sz="1200" dirty="0"/>
                <a:t> </a:t>
              </a:r>
              <a:r>
                <a:rPr lang="en-ID" sz="1200" dirty="0" err="1"/>
                <a:t>akuntabilitas</a:t>
              </a:r>
              <a:r>
                <a:rPr lang="en-ID" sz="1200" dirty="0"/>
                <a:t>, </a:t>
              </a:r>
              <a:r>
                <a:rPr lang="en-ID" sz="1200" dirty="0" err="1"/>
                <a:t>transparansi</a:t>
              </a:r>
              <a:r>
                <a:rPr lang="en-ID" sz="1200" dirty="0"/>
                <a:t>, dan </a:t>
              </a:r>
              <a:r>
                <a:rPr lang="en-ID" sz="1200" dirty="0" err="1"/>
                <a:t>kepatuhan</a:t>
              </a:r>
              <a:r>
                <a:rPr lang="en-ID" sz="1200" dirty="0"/>
                <a:t> </a:t>
              </a:r>
              <a:r>
                <a:rPr lang="en-ID" sz="1200" dirty="0" err="1"/>
                <a:t>dalam</a:t>
              </a:r>
              <a:r>
                <a:rPr lang="en-ID" sz="1200" dirty="0"/>
                <a:t> </a:t>
              </a:r>
              <a:r>
                <a:rPr lang="en-ID" sz="1200" dirty="0" err="1"/>
                <a:t>penyelenggaraan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i-FI" sz="1200" dirty="0"/>
                <a:t>Melakukan pengawasan terhadap pelaksanaan program dan kegiatan pertahanan.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seluruh</a:t>
              </a:r>
              <a:r>
                <a:rPr lang="en-ID" sz="1200" dirty="0"/>
                <a:t> proses </a:t>
              </a:r>
              <a:r>
                <a:rPr lang="en-ID" sz="1200" dirty="0" err="1"/>
                <a:t>berjalan</a:t>
              </a:r>
              <a:r>
                <a:rPr lang="en-ID" sz="1200" dirty="0"/>
                <a:t> </a:t>
              </a:r>
              <a:r>
                <a:rPr lang="en-ID" sz="1200" dirty="0" err="1"/>
                <a:t>sesuai</a:t>
              </a:r>
              <a:r>
                <a:rPr lang="en-ID" sz="1200" dirty="0"/>
                <a:t> </a:t>
              </a:r>
              <a:r>
                <a:rPr lang="en-ID" sz="1200" dirty="0" err="1"/>
                <a:t>regulasi</a:t>
              </a:r>
              <a:r>
                <a:rPr lang="en-ID" sz="1200" dirty="0"/>
                <a:t> dan </a:t>
              </a:r>
              <a:r>
                <a:rPr lang="en-ID" sz="1200" dirty="0" err="1"/>
                <a:t>standar</a:t>
              </a:r>
              <a:r>
                <a:rPr lang="en-ID" sz="1200" dirty="0"/>
                <a:t> yang </a:t>
              </a:r>
              <a:r>
                <a:rPr lang="en-ID" sz="1200" dirty="0" err="1"/>
                <a:t>berlaku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i-FI" sz="1200" dirty="0"/>
                <a:t>Melaksanakan koordinasi dan pembinaan antar unit organisasi.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Mendorong</a:t>
              </a:r>
              <a:r>
                <a:rPr lang="en-ID" sz="1200" dirty="0"/>
                <a:t> </a:t>
              </a:r>
              <a:r>
                <a:rPr lang="en-ID" sz="1200" dirty="0" err="1"/>
                <a:t>peningkatan</a:t>
              </a:r>
              <a:r>
                <a:rPr lang="en-ID" sz="1200" dirty="0"/>
                <a:t> tata </a:t>
              </a:r>
              <a:r>
                <a:rPr lang="en-ID" sz="1200" dirty="0" err="1"/>
                <a:t>kelola</a:t>
              </a:r>
              <a:r>
                <a:rPr lang="en-ID" sz="1200" dirty="0"/>
                <a:t> yang </a:t>
              </a:r>
              <a:r>
                <a:rPr lang="en-ID" sz="1200" dirty="0" err="1"/>
                <a:t>efektif</a:t>
              </a:r>
              <a:r>
                <a:rPr lang="en-ID" sz="1200" dirty="0"/>
                <a:t>, </a:t>
              </a:r>
              <a:r>
                <a:rPr lang="en-ID" sz="1200" dirty="0" err="1"/>
                <a:t>efisien</a:t>
              </a:r>
              <a:r>
                <a:rPr lang="en-ID" sz="1200" dirty="0"/>
                <a:t>, dan </a:t>
              </a:r>
              <a:r>
                <a:rPr lang="en-ID" sz="1200" dirty="0" err="1"/>
                <a:t>bebas</a:t>
              </a:r>
              <a:r>
                <a:rPr lang="en-ID" sz="1200" dirty="0"/>
                <a:t> </a:t>
              </a:r>
              <a:r>
                <a:rPr lang="en-ID" sz="1200" dirty="0" err="1"/>
                <a:t>dari</a:t>
              </a:r>
              <a:r>
                <a:rPr lang="en-ID" sz="1200" dirty="0"/>
                <a:t> </a:t>
              </a:r>
              <a:r>
                <a:rPr lang="en-ID" sz="1200" dirty="0" err="1"/>
                <a:t>penyimpangan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A8F898-E85B-7FF6-9748-706AB2FC42EC}"/>
              </a:ext>
            </a:extLst>
          </p:cNvPr>
          <p:cNvGrpSpPr/>
          <p:nvPr/>
        </p:nvGrpSpPr>
        <p:grpSpPr>
          <a:xfrm>
            <a:off x="8519325" y="167146"/>
            <a:ext cx="3529781" cy="2353211"/>
            <a:chOff x="1297858" y="4758565"/>
            <a:chExt cx="3529781" cy="166641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5A903F-882D-726E-F273-C424EB0D4D0D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3F81FD-B732-E02C-CFF9-F61F49DAF567}"/>
                </a:ext>
              </a:extLst>
            </p:cNvPr>
            <p:cNvSpPr txBox="1"/>
            <p:nvPr/>
          </p:nvSpPr>
          <p:spPr>
            <a:xfrm>
              <a:off x="1297858" y="4771004"/>
              <a:ext cx="3529781" cy="1653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b="1" dirty="0" err="1"/>
                <a:t>Fokus</a:t>
              </a:r>
              <a:r>
                <a:rPr lang="en-ID" sz="1200" b="1" dirty="0"/>
                <a:t>:</a:t>
              </a:r>
              <a:r>
                <a:rPr lang="en-ID" sz="1200" dirty="0"/>
                <a:t> </a:t>
              </a:r>
              <a:r>
                <a:rPr lang="en-ID" sz="1200" dirty="0" err="1"/>
                <a:t>Mengoptimalkan</a:t>
              </a:r>
              <a:r>
                <a:rPr lang="en-ID" sz="1200" dirty="0"/>
                <a:t> </a:t>
              </a:r>
              <a:r>
                <a:rPr lang="en-ID" sz="1200" dirty="0" err="1"/>
                <a:t>penggunaan</a:t>
              </a:r>
              <a:r>
                <a:rPr lang="en-ID" sz="1200" dirty="0"/>
                <a:t> </a:t>
              </a:r>
              <a:r>
                <a:rPr lang="en-ID" sz="1200" dirty="0" err="1"/>
                <a:t>sumber</a:t>
              </a:r>
              <a:r>
                <a:rPr lang="en-ID" sz="1200" dirty="0"/>
                <a:t> </a:t>
              </a:r>
              <a:r>
                <a:rPr lang="en-ID" sz="1200" dirty="0" err="1"/>
                <a:t>daya</a:t>
              </a:r>
              <a:r>
                <a:rPr lang="en-ID" sz="1200" dirty="0"/>
                <a:t> dan </a:t>
              </a:r>
              <a:r>
                <a:rPr lang="en-ID" sz="1200" dirty="0" err="1"/>
                <a:t>aset</a:t>
              </a:r>
              <a:r>
                <a:rPr lang="en-ID" sz="1200" dirty="0"/>
                <a:t> negara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mendukung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Mengelola</a:t>
              </a:r>
              <a:r>
                <a:rPr lang="en-ID" sz="1200" dirty="0"/>
                <a:t> </a:t>
              </a:r>
              <a:r>
                <a:rPr lang="en-ID" sz="1200" dirty="0" err="1"/>
                <a:t>barang</a:t>
              </a:r>
              <a:r>
                <a:rPr lang="en-ID" sz="1200" dirty="0"/>
                <a:t> </a:t>
              </a:r>
              <a:r>
                <a:rPr lang="en-ID" sz="1200" dirty="0" err="1"/>
                <a:t>milik</a:t>
              </a:r>
              <a:r>
                <a:rPr lang="en-ID" sz="1200" dirty="0"/>
                <a:t> negara (BMN)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tertib</a:t>
              </a:r>
              <a:r>
                <a:rPr lang="en-ID" sz="1200" dirty="0"/>
                <a:t>, </a:t>
              </a:r>
              <a:r>
                <a:rPr lang="en-ID" sz="1200" dirty="0" err="1"/>
                <a:t>transparan</a:t>
              </a:r>
              <a:r>
                <a:rPr lang="en-ID" sz="1200" dirty="0"/>
                <a:t>, dan </a:t>
              </a:r>
              <a:r>
                <a:rPr lang="en-ID" sz="1200" dirty="0" err="1"/>
                <a:t>akuntabel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i-FI" sz="1200" dirty="0"/>
                <a:t>Memastikan optimalisasi pemanfaatan aset pertahanan.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Mendukung</a:t>
              </a:r>
              <a:r>
                <a:rPr lang="en-ID" sz="1200" dirty="0"/>
                <a:t> </a:t>
              </a:r>
              <a:r>
                <a:rPr lang="en-ID" sz="1200" dirty="0" err="1"/>
                <a:t>efisiensi</a:t>
              </a:r>
              <a:r>
                <a:rPr lang="en-ID" sz="1200" dirty="0"/>
                <a:t> </a:t>
              </a:r>
              <a:r>
                <a:rPr lang="en-ID" sz="1200" dirty="0" err="1"/>
                <a:t>anggaran</a:t>
              </a:r>
              <a:r>
                <a:rPr lang="en-ID" sz="1200" dirty="0"/>
                <a:t> dan </a:t>
              </a:r>
              <a:r>
                <a:rPr lang="en-ID" sz="1200" dirty="0" err="1"/>
                <a:t>pengelolaan</a:t>
              </a:r>
              <a:r>
                <a:rPr lang="en-ID" sz="1200" dirty="0"/>
                <a:t> </a:t>
              </a:r>
              <a:r>
                <a:rPr lang="en-ID" sz="1200" dirty="0" err="1"/>
                <a:t>keuangan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Menyediakan</a:t>
              </a:r>
              <a:r>
                <a:rPr lang="en-ID" sz="1200" dirty="0"/>
                <a:t> data </a:t>
              </a:r>
              <a:r>
                <a:rPr lang="en-ID" sz="1200" dirty="0" err="1"/>
                <a:t>aset</a:t>
              </a:r>
              <a:r>
                <a:rPr lang="en-ID" sz="1200" dirty="0"/>
                <a:t> yang </a:t>
              </a:r>
              <a:r>
                <a:rPr lang="en-ID" sz="1200" dirty="0" err="1"/>
                <a:t>akurat</a:t>
              </a:r>
              <a:r>
                <a:rPr lang="en-ID" sz="1200" dirty="0"/>
                <a:t> </a:t>
              </a:r>
              <a:r>
                <a:rPr lang="en-ID" sz="1200" dirty="0" err="1"/>
                <a:t>sebagai</a:t>
              </a:r>
              <a:r>
                <a:rPr lang="en-ID" sz="1200" dirty="0"/>
                <a:t> </a:t>
              </a:r>
              <a:r>
                <a:rPr lang="en-ID" sz="1200" dirty="0" err="1"/>
                <a:t>dasar</a:t>
              </a:r>
              <a:r>
                <a:rPr lang="en-ID" sz="1200" dirty="0"/>
                <a:t> </a:t>
              </a:r>
              <a:r>
                <a:rPr lang="en-ID" sz="1200" dirty="0" err="1"/>
                <a:t>pengambilan</a:t>
              </a:r>
              <a:r>
                <a:rPr lang="en-ID" sz="1200" dirty="0"/>
                <a:t> </a:t>
              </a:r>
              <a:r>
                <a:rPr lang="en-ID" sz="1200" dirty="0" err="1"/>
                <a:t>keputusan</a:t>
              </a:r>
              <a:r>
                <a:rPr lang="en-ID" sz="1200" dirty="0"/>
                <a:t> </a:t>
              </a:r>
              <a:r>
                <a:rPr lang="en-ID" sz="1200" dirty="0" err="1"/>
                <a:t>strategis</a:t>
              </a:r>
              <a:r>
                <a:rPr lang="en-ID" sz="1200" dirty="0"/>
                <a:t>.</a:t>
              </a:r>
            </a:p>
          </p:txBody>
        </p:sp>
      </p:grp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397584E-6523-13A0-84D0-BCE23E970273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2439804" y="2292293"/>
            <a:ext cx="476789" cy="10105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1BB9C4A-8F68-0B03-71C3-9C215BF17ADD}"/>
              </a:ext>
            </a:extLst>
          </p:cNvPr>
          <p:cNvCxnSpPr/>
          <p:nvPr/>
        </p:nvCxnSpPr>
        <p:spPr>
          <a:xfrm rot="16200000" flipH="1">
            <a:off x="6377386" y="2255793"/>
            <a:ext cx="478797" cy="18858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A503E3F-1BD9-21A3-3E50-6958F8BF11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38161" y="2169406"/>
            <a:ext cx="445988" cy="39591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53993C-372F-1F85-A282-6B18F7B1199A}"/>
              </a:ext>
            </a:extLst>
          </p:cNvPr>
          <p:cNvGrpSpPr/>
          <p:nvPr/>
        </p:nvGrpSpPr>
        <p:grpSpPr>
          <a:xfrm>
            <a:off x="4757602" y="481631"/>
            <a:ext cx="3529781" cy="1629055"/>
            <a:chOff x="1297858" y="4758565"/>
            <a:chExt cx="3529781" cy="138499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BC3EAA-CDF7-8E01-718C-B09B60897B6B}"/>
                </a:ext>
              </a:extLst>
            </p:cNvPr>
            <p:cNvSpPr/>
            <p:nvPr/>
          </p:nvSpPr>
          <p:spPr>
            <a:xfrm>
              <a:off x="1297858" y="4758565"/>
              <a:ext cx="3529781" cy="138499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4AC907-05FE-67C0-2405-63168493F3B8}"/>
                </a:ext>
              </a:extLst>
            </p:cNvPr>
            <p:cNvSpPr txBox="1"/>
            <p:nvPr/>
          </p:nvSpPr>
          <p:spPr>
            <a:xfrm>
              <a:off x="1297858" y="4784929"/>
              <a:ext cx="3529781" cy="1334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b="1" dirty="0" err="1"/>
                <a:t>Fokus</a:t>
              </a:r>
              <a:r>
                <a:rPr lang="en-ID" sz="1200" b="1" dirty="0"/>
                <a:t>:</a:t>
              </a:r>
              <a:r>
                <a:rPr lang="en-ID" sz="1200" dirty="0"/>
                <a:t> </a:t>
              </a:r>
              <a:r>
                <a:rPr lang="en-ID" sz="1200" dirty="0" err="1"/>
                <a:t>Menjalankan</a:t>
              </a:r>
              <a:r>
                <a:rPr lang="en-ID" sz="1200" dirty="0"/>
                <a:t> </a:t>
              </a:r>
              <a:r>
                <a:rPr lang="en-ID" sz="1200" dirty="0" err="1"/>
                <a:t>kegiatan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efektif</a:t>
              </a:r>
              <a:r>
                <a:rPr lang="en-ID" sz="1200" dirty="0"/>
                <a:t> </a:t>
              </a:r>
              <a:r>
                <a:rPr lang="en-ID" sz="1200" dirty="0" err="1"/>
                <a:t>dari</a:t>
              </a:r>
              <a:r>
                <a:rPr lang="en-ID" sz="1200" dirty="0"/>
                <a:t> </a:t>
              </a:r>
              <a:r>
                <a:rPr lang="en-ID" sz="1200" dirty="0" err="1"/>
                <a:t>pusat</a:t>
              </a:r>
              <a:r>
                <a:rPr lang="en-ID" sz="1200" dirty="0"/>
                <a:t> </a:t>
              </a:r>
              <a:r>
                <a:rPr lang="en-ID" sz="1200" dirty="0" err="1"/>
                <a:t>hingga</a:t>
              </a:r>
              <a:r>
                <a:rPr lang="en-ID" sz="1200" dirty="0"/>
                <a:t> </a:t>
              </a:r>
              <a:r>
                <a:rPr lang="en-ID" sz="1200" dirty="0" err="1"/>
                <a:t>daerah</a:t>
              </a:r>
              <a:r>
                <a:rPr lang="en-ID" sz="1200" dirty="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Melaksanakan</a:t>
              </a:r>
              <a:r>
                <a:rPr lang="en-ID" sz="1200" dirty="0"/>
                <a:t> </a:t>
              </a:r>
              <a:r>
                <a:rPr lang="en-ID" sz="1200" dirty="0" err="1"/>
                <a:t>kegiatan</a:t>
              </a:r>
              <a:r>
                <a:rPr lang="en-ID" sz="1200" dirty="0"/>
                <a:t> </a:t>
              </a:r>
              <a:r>
                <a:rPr lang="en-ID" sz="1200" dirty="0" err="1"/>
                <a:t>teknis</a:t>
              </a:r>
              <a:r>
                <a:rPr lang="en-ID" sz="1200" dirty="0"/>
                <a:t> </a:t>
              </a:r>
              <a:r>
                <a:rPr lang="en-ID" sz="1200" dirty="0" err="1"/>
                <a:t>pertahanan</a:t>
              </a:r>
              <a:r>
                <a:rPr lang="en-ID" sz="1200" dirty="0"/>
                <a:t> </a:t>
              </a:r>
              <a:r>
                <a:rPr lang="en-ID" sz="1200" dirty="0" err="1"/>
                <a:t>secara</a:t>
              </a:r>
              <a:r>
                <a:rPr lang="en-ID" sz="1200" dirty="0"/>
                <a:t> </a:t>
              </a:r>
              <a:r>
                <a:rPr lang="en-ID" sz="1200" dirty="0" err="1"/>
                <a:t>terkoordinasi</a:t>
              </a:r>
              <a:r>
                <a:rPr lang="en-ID" sz="1200" dirty="0"/>
                <a:t> di </a:t>
              </a:r>
              <a:r>
                <a:rPr lang="en-ID" sz="1200" dirty="0" err="1"/>
                <a:t>seluruh</a:t>
              </a:r>
              <a:r>
                <a:rPr lang="en-ID" sz="1200" dirty="0"/>
                <a:t> wilayah.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Memastikan</a:t>
              </a:r>
              <a:r>
                <a:rPr lang="en-ID" sz="1200" dirty="0"/>
                <a:t> </a:t>
              </a:r>
              <a:r>
                <a:rPr lang="en-ID" sz="1200" dirty="0" err="1"/>
                <a:t>implementasi</a:t>
              </a:r>
              <a:r>
                <a:rPr lang="en-ID" sz="1200" dirty="0"/>
                <a:t> </a:t>
              </a:r>
              <a:r>
                <a:rPr lang="en-ID" sz="1200" dirty="0" err="1"/>
                <a:t>kebijakan</a:t>
              </a:r>
              <a:r>
                <a:rPr lang="en-ID" sz="1200" dirty="0"/>
                <a:t> </a:t>
              </a:r>
              <a:r>
                <a:rPr lang="en-ID" sz="1200" dirty="0" err="1"/>
                <a:t>berjalan</a:t>
              </a:r>
              <a:r>
                <a:rPr lang="en-ID" sz="1200" dirty="0"/>
                <a:t> </a:t>
              </a:r>
              <a:r>
                <a:rPr lang="en-ID" sz="1200" dirty="0" err="1"/>
                <a:t>sesuai</a:t>
              </a:r>
              <a:r>
                <a:rPr lang="en-ID" sz="1200" dirty="0"/>
                <a:t> </a:t>
              </a:r>
              <a:r>
                <a:rPr lang="en-ID" sz="1200" dirty="0" err="1"/>
                <a:t>rencana</a:t>
              </a:r>
              <a:r>
                <a:rPr lang="en-ID" sz="1200" dirty="0"/>
                <a:t> dan target.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D" sz="1200" dirty="0" err="1"/>
                <a:t>Menjamin</a:t>
              </a:r>
              <a:r>
                <a:rPr lang="en-ID" sz="1200" dirty="0"/>
                <a:t> </a:t>
              </a:r>
              <a:r>
                <a:rPr lang="en-ID" sz="1200" dirty="0" err="1"/>
                <a:t>kelancaran</a:t>
              </a:r>
              <a:r>
                <a:rPr lang="en-ID" sz="1200" dirty="0"/>
                <a:t> </a:t>
              </a:r>
              <a:r>
                <a:rPr lang="en-ID" sz="1200" dirty="0" err="1"/>
                <a:t>operasional</a:t>
              </a:r>
              <a:r>
                <a:rPr lang="en-ID" sz="1200" dirty="0"/>
                <a:t> </a:t>
              </a:r>
              <a:r>
                <a:rPr lang="en-ID" sz="1200" dirty="0" err="1"/>
                <a:t>melalui</a:t>
              </a:r>
              <a:r>
                <a:rPr lang="en-ID" sz="1200" dirty="0"/>
                <a:t> </a:t>
              </a:r>
              <a:r>
                <a:rPr lang="en-ID" sz="1200" dirty="0" err="1"/>
                <a:t>dukungan</a:t>
              </a:r>
              <a:r>
                <a:rPr lang="en-ID" sz="1200" dirty="0"/>
                <a:t> </a:t>
              </a:r>
              <a:r>
                <a:rPr lang="en-ID" sz="1200" dirty="0" err="1"/>
                <a:t>administratif</a:t>
              </a:r>
              <a:r>
                <a:rPr lang="en-ID" sz="1200" dirty="0"/>
                <a:t> dan </a:t>
              </a:r>
              <a:r>
                <a:rPr lang="en-ID" sz="1200" dirty="0" err="1"/>
                <a:t>substantif</a:t>
              </a:r>
              <a:r>
                <a:rPr lang="en-ID" sz="1200" dirty="0"/>
                <a:t>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2AA0C9-29A1-85DF-3DBA-B1CD1723ED9D}"/>
              </a:ext>
            </a:extLst>
          </p:cNvPr>
          <p:cNvGrpSpPr/>
          <p:nvPr/>
        </p:nvGrpSpPr>
        <p:grpSpPr>
          <a:xfrm>
            <a:off x="4009432" y="3891181"/>
            <a:ext cx="515211" cy="339887"/>
            <a:chOff x="4009432" y="3782634"/>
            <a:chExt cx="515211" cy="33988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E0621A-7349-E0DF-2AF2-EF882A723C15}"/>
                </a:ext>
              </a:extLst>
            </p:cNvPr>
            <p:cNvCxnSpPr>
              <a:cxnSpLocks/>
            </p:cNvCxnSpPr>
            <p:nvPr/>
          </p:nvCxnSpPr>
          <p:spPr>
            <a:xfrm>
              <a:off x="4009432" y="3935034"/>
              <a:ext cx="51521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F98D8C-E509-4391-0389-354D80C920ED}"/>
                </a:ext>
              </a:extLst>
            </p:cNvPr>
            <p:cNvCxnSpPr/>
            <p:nvPr/>
          </p:nvCxnSpPr>
          <p:spPr>
            <a:xfrm flipH="1" flipV="1">
              <a:off x="4019592" y="3935034"/>
              <a:ext cx="1" cy="1874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39E3EDB-5CC9-4AA8-862E-06C586ABE8A5}"/>
                </a:ext>
              </a:extLst>
            </p:cNvPr>
            <p:cNvCxnSpPr/>
            <p:nvPr/>
          </p:nvCxnSpPr>
          <p:spPr>
            <a:xfrm>
              <a:off x="4514483" y="3782634"/>
              <a:ext cx="0" cy="1473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BE8CE67-3982-DF63-C8CD-A17C20AEB185}"/>
              </a:ext>
            </a:extLst>
          </p:cNvPr>
          <p:cNvCxnSpPr>
            <a:cxnSpLocks/>
            <a:endCxn id="11" idx="0"/>
          </p:cNvCxnSpPr>
          <p:nvPr/>
        </p:nvCxnSpPr>
        <p:spPr>
          <a:xfrm rot="16200000" flipH="1">
            <a:off x="8811427" y="3909122"/>
            <a:ext cx="335518" cy="29963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85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364</Words>
  <Application>Microsoft Office PowerPoint</Application>
  <PresentationFormat>Widescreen</PresentationFormat>
  <Paragraphs>33</Paragraphs>
  <Slides>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Suandi Tambing S T</dc:creator>
  <cp:lastModifiedBy>Marcel Suandi Tambing S T</cp:lastModifiedBy>
  <cp:revision>4</cp:revision>
  <dcterms:created xsi:type="dcterms:W3CDTF">2026-04-19T13:10:41Z</dcterms:created>
  <dcterms:modified xsi:type="dcterms:W3CDTF">2026-08-06T16:17:05Z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2026-04-19T13:36:27Z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d7191ca3-160e-423d-8b95-110680a069f8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